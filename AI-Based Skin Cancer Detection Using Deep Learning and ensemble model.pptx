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60" r:id="rId4"/>
  </p:sldMasterIdLst>
  <p:notesMasterIdLst>
    <p:notesMasterId r:id="rId20"/>
  </p:notesMasterIdLst>
  <p:sldIdLst>
    <p:sldId id="313" r:id="rId5"/>
    <p:sldId id="314" r:id="rId6"/>
    <p:sldId id="316" r:id="rId7"/>
    <p:sldId id="317" r:id="rId8"/>
    <p:sldId id="318" r:id="rId9"/>
    <p:sldId id="321" r:id="rId10"/>
    <p:sldId id="319" r:id="rId11"/>
    <p:sldId id="320" r:id="rId12"/>
    <p:sldId id="322" r:id="rId13"/>
    <p:sldId id="323" r:id="rId14"/>
    <p:sldId id="324" r:id="rId15"/>
    <p:sldId id="325" r:id="rId16"/>
    <p:sldId id="326" r:id="rId17"/>
    <p:sldId id="327" r:id="rId18"/>
    <p:sldId id="32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DBDFE-DD3D-4291-A404-1B97A83A6EA8}" type="datetimeFigureOut">
              <a:rPr lang="en-US" smtClean="0"/>
              <a:t>2/28/2026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456DE3-4E01-4AFD-AD42-42312842ED89}" type="slidenum">
              <a:rPr lang="en-US" smtClean="0"/>
              <a:t>‹#›</a:t>
            </a:fld>
            <a:endParaRPr lang="en-US" dirty="0"/>
          </a:p>
        </p:txBody>
      </p:sp>
    </p:spTree>
    <p:extLst>
      <p:ext uri="{BB962C8B-B14F-4D97-AF65-F5344CB8AC3E}">
        <p14:creationId xmlns:p14="http://schemas.microsoft.com/office/powerpoint/2010/main" val="70296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2/28/2026</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184701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2/28/2026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75881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2/28/2026</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9732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2/28/2026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500582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2/28/2026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20732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2/28/2026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7358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375327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2/28/2026</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32160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2/28/2026</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99103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2/28/2026</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720901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8A444-AF83-2746-8124-28D87DDE5DAE}"/>
              </a:ext>
            </a:extLst>
          </p:cNvPr>
          <p:cNvSpPr>
            <a:spLocks noGrp="1"/>
          </p:cNvSpPr>
          <p:nvPr>
            <p:ph type="title"/>
          </p:nvPr>
        </p:nvSpPr>
        <p:spPr>
          <a:xfrm>
            <a:off x="1066800" y="642593"/>
            <a:ext cx="10058400" cy="2395155"/>
          </a:xfrm>
        </p:spPr>
        <p:txBody>
          <a:bodyPr>
            <a:normAutofit/>
          </a:bodyPr>
          <a:lstStyle/>
          <a:p>
            <a:pPr algn="ctr"/>
            <a:r>
              <a:rPr lang="en-US" b="1" dirty="0">
                <a:latin typeface="Times New Roman" panose="02020603050405020304" pitchFamily="18" charset="0"/>
                <a:cs typeface="Times New Roman" panose="02020603050405020304" pitchFamily="18" charset="0"/>
              </a:rPr>
              <a:t>AI-Based Skin Cancer Detection Using Deep Learning and Ensemble Models</a:t>
            </a:r>
            <a:br>
              <a:rPr lang="en-US" b="1" dirty="0"/>
            </a:br>
            <a:endParaRPr lang="en-IN" dirty="0"/>
          </a:p>
        </p:txBody>
      </p:sp>
      <p:sp>
        <p:nvSpPr>
          <p:cNvPr id="3" name="Content Placeholder 2">
            <a:extLst>
              <a:ext uri="{FF2B5EF4-FFF2-40B4-BE49-F238E27FC236}">
                <a16:creationId xmlns:a16="http://schemas.microsoft.com/office/drawing/2014/main" id="{2EA83121-4DAF-7687-8108-EF82BFD98FD6}"/>
              </a:ext>
            </a:extLst>
          </p:cNvPr>
          <p:cNvSpPr>
            <a:spLocks noGrp="1"/>
          </p:cNvSpPr>
          <p:nvPr>
            <p:ph idx="1"/>
          </p:nvPr>
        </p:nvSpPr>
        <p:spPr>
          <a:xfrm>
            <a:off x="5557838" y="3557588"/>
            <a:ext cx="5567362" cy="2395156"/>
          </a:xfrm>
        </p:spPr>
        <p:txBody>
          <a:bodyPr>
            <a:normAutofit/>
          </a:bodyPr>
          <a:lstStyle/>
          <a:p>
            <a:pPr marL="0" indent="0">
              <a:buNone/>
            </a:pPr>
            <a:r>
              <a:rPr lang="en-IN" sz="2000" dirty="0"/>
              <a:t>Mentor : Mr. </a:t>
            </a:r>
            <a:r>
              <a:rPr lang="en-IN" sz="2000" dirty="0" err="1"/>
              <a:t>Rizha</a:t>
            </a:r>
            <a:r>
              <a:rPr lang="en-IN" sz="2000" dirty="0"/>
              <a:t> Ur Rahman</a:t>
            </a:r>
          </a:p>
          <a:p>
            <a:pPr marL="0" indent="0">
              <a:buNone/>
            </a:pPr>
            <a:r>
              <a:rPr lang="en-IN" sz="2000" dirty="0"/>
              <a:t>Team members:</a:t>
            </a:r>
          </a:p>
          <a:p>
            <a:r>
              <a:rPr lang="en-IN" sz="2000" dirty="0" err="1"/>
              <a:t>Yasinraj</a:t>
            </a:r>
            <a:r>
              <a:rPr lang="en-IN" sz="2000" dirty="0"/>
              <a:t> T (311822243030)</a:t>
            </a:r>
          </a:p>
          <a:p>
            <a:r>
              <a:rPr lang="en-IN" sz="2000" dirty="0"/>
              <a:t>Mohamed Thahir M (311822243301)</a:t>
            </a:r>
          </a:p>
          <a:p>
            <a:r>
              <a:rPr lang="en-IN" sz="2000" dirty="0"/>
              <a:t>Varshini M (311822243701)</a:t>
            </a:r>
          </a:p>
        </p:txBody>
      </p:sp>
    </p:spTree>
    <p:extLst>
      <p:ext uri="{BB962C8B-B14F-4D97-AF65-F5344CB8AC3E}">
        <p14:creationId xmlns:p14="http://schemas.microsoft.com/office/powerpoint/2010/main" val="1904503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FAC3B-3E9F-A0EE-EB55-45615F3B3EA6}"/>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F36BB019-CA35-398B-A7BA-1D4D78591DEA}"/>
              </a:ext>
            </a:extLst>
          </p:cNvPr>
          <p:cNvSpPr>
            <a:spLocks noGrp="1"/>
          </p:cNvSpPr>
          <p:nvPr>
            <p:ph idx="1"/>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Skin cancer is one of the most commonly occurring cancers worldwide, and early detection plays a critical role in improving patient survival rates. Traditional diagnostic approaches such as </a:t>
            </a:r>
            <a:r>
              <a:rPr lang="en-US" sz="2000" dirty="0" err="1">
                <a:latin typeface="Times New Roman" panose="02020603050405020304" pitchFamily="18" charset="0"/>
                <a:cs typeface="Times New Roman" panose="02020603050405020304" pitchFamily="18" charset="0"/>
              </a:rPr>
              <a:t>dermoscopic</a:t>
            </a:r>
            <a:r>
              <a:rPr lang="en-US" sz="2000" dirty="0">
                <a:latin typeface="Times New Roman" panose="02020603050405020304" pitchFamily="18" charset="0"/>
                <a:cs typeface="Times New Roman" panose="02020603050405020304" pitchFamily="18" charset="0"/>
              </a:rPr>
              <a:t> examination and biopsy are time-consuming, costly, and highly dependent on specialist expertise. In this project, we developed a robust artificial intelligence-based classification system that automatically detects and categorizes skin lesions using deep learning. We evaluated several pre-trained convolutional neural network architectures and finally constructed a weighted ensemble model that combines the strengths of DenseNet201 and InceptionV3. The system was deployed using a </a:t>
            </a:r>
            <a:r>
              <a:rPr lang="en-US" sz="2000" dirty="0" err="1">
                <a:latin typeface="Times New Roman" panose="02020603050405020304" pitchFamily="18" charset="0"/>
                <a:cs typeface="Times New Roman" panose="02020603050405020304" pitchFamily="18" charset="0"/>
              </a:rPr>
              <a:t>Gradio</a:t>
            </a:r>
            <a:r>
              <a:rPr lang="en-US" sz="2000" dirty="0">
                <a:latin typeface="Times New Roman" panose="02020603050405020304" pitchFamily="18" charset="0"/>
                <a:cs typeface="Times New Roman" panose="02020603050405020304" pitchFamily="18" charset="0"/>
              </a:rPr>
              <a:t>-based web interface to provide real-time predictions and assist dermatologists in clinical decision-making</a:t>
            </a:r>
            <a:r>
              <a:rPr lang="en-US" sz="2000" dirty="0"/>
              <a:t>.</a:t>
            </a:r>
            <a:endParaRPr lang="en-IN" sz="2000" dirty="0"/>
          </a:p>
        </p:txBody>
      </p:sp>
    </p:spTree>
    <p:extLst>
      <p:ext uri="{BB962C8B-B14F-4D97-AF65-F5344CB8AC3E}">
        <p14:creationId xmlns:p14="http://schemas.microsoft.com/office/powerpoint/2010/main" val="1375625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585C7-8020-A08D-737A-E995D668A91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41F11142-6A77-E3CE-96B9-3017D2C7C7A0}"/>
              </a:ext>
            </a:extLst>
          </p:cNvPr>
          <p:cNvSpPr>
            <a:spLocks noGrp="1"/>
          </p:cNvSpPr>
          <p:nvPr>
            <p:ph idx="1"/>
          </p:nvPr>
        </p:nvSpPr>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Skin cancer occurs due to abnormal growth of skin cells, primarily caused by excessive exposure to ultraviolet radiation. Among the different types, melanoma is the most aggressive and potentially fatal if not diagnosed early. Dermatologists commonly use </a:t>
            </a:r>
            <a:r>
              <a:rPr lang="en-US" sz="2400" dirty="0" err="1">
                <a:latin typeface="Times New Roman" panose="02020603050405020304" pitchFamily="18" charset="0"/>
                <a:cs typeface="Times New Roman" panose="02020603050405020304" pitchFamily="18" charset="0"/>
              </a:rPr>
              <a:t>dermoscopy</a:t>
            </a:r>
            <a:r>
              <a:rPr lang="en-US" sz="2400" dirty="0">
                <a:latin typeface="Times New Roman" panose="02020603050405020304" pitchFamily="18" charset="0"/>
                <a:cs typeface="Times New Roman" panose="02020603050405020304" pitchFamily="18" charset="0"/>
              </a:rPr>
              <a:t> to examine pigmented lesions; however, accurate interpretation requires significant training and experience. The rapid advancement of deep learning, particularly convolutional neural networks, has revolutionized computer vision by enabling machines to automatically extract complex visual patterns from medical images. This advancement provides a strong foundation for developing AI-assisted diagnostic systems in dermatology.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8935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89B56-F5BF-3289-0D6C-3749B8B8C66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28AD467D-3858-681E-8641-34EA245DC9E9}"/>
              </a:ext>
            </a:extLst>
          </p:cNvPr>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 main problem addressed in this project is the development of an automated deep learning system capable of classifying </a:t>
            </a:r>
            <a:r>
              <a:rPr lang="en-US" sz="2400" dirty="0" err="1">
                <a:latin typeface="Times New Roman" panose="02020603050405020304" pitchFamily="18" charset="0"/>
                <a:cs typeface="Times New Roman" panose="02020603050405020304" pitchFamily="18" charset="0"/>
              </a:rPr>
              <a:t>dermoscopic</a:t>
            </a:r>
            <a:r>
              <a:rPr lang="en-US" sz="2400" dirty="0">
                <a:latin typeface="Times New Roman" panose="02020603050405020304" pitchFamily="18" charset="0"/>
                <a:cs typeface="Times New Roman" panose="02020603050405020304" pitchFamily="18" charset="0"/>
              </a:rPr>
              <a:t> skin images into seven distinct categories while handling significant class imbalance and visual similarity between lesion types. The system must achieve high predictive accuracy, maintain strong recall for malignant cases, and be deployable in real-time environments for clinical assistance.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6801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B7D79-59D8-0FBE-5794-789B50EA4D7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0C28E08D-86B6-429E-D60C-FA0392C7FAD0}"/>
              </a:ext>
            </a:extLst>
          </p:cNvPr>
          <p:cNvSpPr>
            <a:spLocks noGrp="1"/>
          </p:cNvSpPr>
          <p:nvPr>
            <p:ph idx="1"/>
          </p:nvPr>
        </p:nvSpPr>
        <p:spPr>
          <a:xfrm>
            <a:off x="1066800" y="2131695"/>
            <a:ext cx="10058400" cy="3849624"/>
          </a:xfrm>
        </p:spPr>
        <p:txBody>
          <a:bodyPr>
            <a:normAutofit fontScale="92500"/>
          </a:bodyPr>
          <a:lstStyle/>
          <a:p>
            <a:pPr lvl="0" algn="just"/>
            <a:r>
              <a:rPr lang="en-US" sz="2000" b="1" dirty="0">
                <a:latin typeface="Times New Roman" panose="02020603050405020304" pitchFamily="18" charset="0"/>
                <a:cs typeface="Times New Roman" panose="02020603050405020304" pitchFamily="18" charset="0"/>
              </a:rPr>
              <a:t>Data Preparation: </a:t>
            </a:r>
            <a:r>
              <a:rPr lang="en-US" sz="2000" dirty="0">
                <a:latin typeface="Times New Roman" panose="02020603050405020304" pitchFamily="18" charset="0"/>
                <a:cs typeface="Times New Roman" panose="02020603050405020304" pitchFamily="18" charset="0"/>
              </a:rPr>
              <a:t>To preprocess and augment the HAM10000 dataset to ensure model robustness against variations in lesion size, orientation, and lighting.</a:t>
            </a:r>
            <a:endParaRPr lang="en-IN" sz="2000" dirty="0">
              <a:latin typeface="Times New Roman" panose="02020603050405020304" pitchFamily="18" charset="0"/>
              <a:cs typeface="Times New Roman" panose="02020603050405020304" pitchFamily="18" charset="0"/>
            </a:endParaRPr>
          </a:p>
          <a:p>
            <a:pPr lvl="0" algn="just"/>
            <a:r>
              <a:rPr lang="en-US" sz="2000" b="1" dirty="0">
                <a:latin typeface="Times New Roman" panose="02020603050405020304" pitchFamily="18" charset="0"/>
                <a:cs typeface="Times New Roman" panose="02020603050405020304" pitchFamily="18" charset="0"/>
              </a:rPr>
              <a:t>Baseline Establishment: </a:t>
            </a:r>
            <a:r>
              <a:rPr lang="en-US" sz="2000" dirty="0">
                <a:latin typeface="Times New Roman" panose="02020603050405020304" pitchFamily="18" charset="0"/>
                <a:cs typeface="Times New Roman" panose="02020603050405020304" pitchFamily="18" charset="0"/>
              </a:rPr>
              <a:t>To build and train a custom CNN from scratch as a performance benchmark.</a:t>
            </a:r>
            <a:endParaRPr lang="en-IN" sz="2000" dirty="0">
              <a:latin typeface="Times New Roman" panose="02020603050405020304" pitchFamily="18" charset="0"/>
              <a:cs typeface="Times New Roman" panose="02020603050405020304" pitchFamily="18" charset="0"/>
            </a:endParaRPr>
          </a:p>
          <a:p>
            <a:pPr lvl="0" algn="just"/>
            <a:r>
              <a:rPr lang="en-US" sz="2000" b="1" dirty="0">
                <a:latin typeface="Times New Roman" panose="02020603050405020304" pitchFamily="18" charset="0"/>
                <a:cs typeface="Times New Roman" panose="02020603050405020304" pitchFamily="18" charset="0"/>
              </a:rPr>
              <a:t>Transfer Learning: </a:t>
            </a:r>
            <a:r>
              <a:rPr lang="en-US" sz="2000" dirty="0">
                <a:latin typeface="Times New Roman" panose="02020603050405020304" pitchFamily="18" charset="0"/>
                <a:cs typeface="Times New Roman" panose="02020603050405020304" pitchFamily="18" charset="0"/>
              </a:rPr>
              <a:t>To implement and evaluate state-of-the-art pre-trained architectures (ResNet50, DenseNet201, InceptionV3, etc.) using feature extraction and fine-tuning strategies.</a:t>
            </a:r>
            <a:endParaRPr lang="en-IN" sz="2000" dirty="0">
              <a:latin typeface="Times New Roman" panose="02020603050405020304" pitchFamily="18" charset="0"/>
              <a:cs typeface="Times New Roman" panose="02020603050405020304" pitchFamily="18" charset="0"/>
            </a:endParaRPr>
          </a:p>
          <a:p>
            <a:pPr lvl="0" algn="just"/>
            <a:r>
              <a:rPr lang="en-US" sz="2000" b="1" dirty="0">
                <a:latin typeface="Times New Roman" panose="02020603050405020304" pitchFamily="18" charset="0"/>
                <a:cs typeface="Times New Roman" panose="02020603050405020304" pitchFamily="18" charset="0"/>
              </a:rPr>
              <a:t>Ensemble Optimization: </a:t>
            </a:r>
            <a:r>
              <a:rPr lang="en-US" sz="2000" dirty="0">
                <a:latin typeface="Times New Roman" panose="02020603050405020304" pitchFamily="18" charset="0"/>
                <a:cs typeface="Times New Roman" panose="02020603050405020304" pitchFamily="18" charset="0"/>
              </a:rPr>
              <a:t>To develop a weighted ensemble model that leverages the complementary strengths of the best-performing individual networks.</a:t>
            </a:r>
            <a:endParaRPr lang="en-IN" sz="2000" dirty="0">
              <a:latin typeface="Times New Roman" panose="02020603050405020304" pitchFamily="18" charset="0"/>
              <a:cs typeface="Times New Roman" panose="02020603050405020304" pitchFamily="18" charset="0"/>
            </a:endParaRPr>
          </a:p>
          <a:p>
            <a:pPr lvl="0" algn="just"/>
            <a:r>
              <a:rPr lang="en-US" sz="2000" b="1" dirty="0">
                <a:latin typeface="Times New Roman" panose="02020603050405020304" pitchFamily="18" charset="0"/>
                <a:cs typeface="Times New Roman" panose="02020603050405020304" pitchFamily="18" charset="0"/>
              </a:rPr>
              <a:t>Deployment: </a:t>
            </a:r>
            <a:r>
              <a:rPr lang="en-US" sz="2000" dirty="0">
                <a:latin typeface="Times New Roman" panose="02020603050405020304" pitchFamily="18" charset="0"/>
                <a:cs typeface="Times New Roman" panose="02020603050405020304" pitchFamily="18" charset="0"/>
              </a:rPr>
              <a:t>To construct a user-friendly, modern web application for real-time lesion analysis.</a:t>
            </a:r>
            <a:endParaRPr lang="en-IN" sz="20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142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FA2B7-EB5F-37CC-1881-5C6D20A42AF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Dataset Description</a:t>
            </a:r>
          </a:p>
        </p:txBody>
      </p:sp>
      <p:sp>
        <p:nvSpPr>
          <p:cNvPr id="3" name="Content Placeholder 2">
            <a:extLst>
              <a:ext uri="{FF2B5EF4-FFF2-40B4-BE49-F238E27FC236}">
                <a16:creationId xmlns:a16="http://schemas.microsoft.com/office/drawing/2014/main" id="{E8A05179-9B74-6C0E-CAF4-E034526403E5}"/>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This project utilizes the HAM10000 dataset obtained from the ISIC Archive. The dataset contains approximately 10,000 </a:t>
            </a:r>
            <a:r>
              <a:rPr lang="en-US" sz="2400" dirty="0" err="1">
                <a:latin typeface="Times New Roman" panose="02020603050405020304" pitchFamily="18" charset="0"/>
                <a:cs typeface="Times New Roman" panose="02020603050405020304" pitchFamily="18" charset="0"/>
              </a:rPr>
              <a:t>dermoscopic</a:t>
            </a:r>
            <a:r>
              <a:rPr lang="en-US" sz="2400" dirty="0">
                <a:latin typeface="Times New Roman" panose="02020603050405020304" pitchFamily="18" charset="0"/>
                <a:cs typeface="Times New Roman" panose="02020603050405020304" pitchFamily="18" charset="0"/>
              </a:rPr>
              <a:t> images categorized into seven different lesion types, including both benign and malignant conditions. A major challenge associated with this dataset is class imbalance, as the majority of images belong to melanocytic nevi, while certain malignant and rare categories have significantly fewer samples. This imbalance makes accurate classification more challenging and requires special handling through augmentation and model optimization techniques.</a:t>
            </a:r>
          </a:p>
          <a:p>
            <a:pPr algn="just"/>
            <a:endParaRPr lang="en-IN" dirty="0"/>
          </a:p>
        </p:txBody>
      </p:sp>
    </p:spTree>
    <p:extLst>
      <p:ext uri="{BB962C8B-B14F-4D97-AF65-F5344CB8AC3E}">
        <p14:creationId xmlns:p14="http://schemas.microsoft.com/office/powerpoint/2010/main" val="2522999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94CFC-1768-93F7-9A7E-3EA7127A294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Methodology</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4AFE70-F560-5914-5D8F-0A4A8091E32C}"/>
              </a:ext>
            </a:extLst>
          </p:cNvPr>
          <p:cNvSpPr>
            <a:spLocks noGrp="1"/>
          </p:cNvSpPr>
          <p:nvPr>
            <p:ph idx="1"/>
          </p:nvPr>
        </p:nvSpPr>
        <p:spPr>
          <a:xfrm>
            <a:off x="1252537" y="1885950"/>
            <a:ext cx="10058400" cy="4171949"/>
          </a:xfrm>
        </p:spPr>
        <p:txBody>
          <a:bodyPr>
            <a:noAutofit/>
          </a:bodyPr>
          <a:lstStyle/>
          <a:p>
            <a:pPr lvl="1" algn="just"/>
            <a:r>
              <a:rPr lang="en-US" sz="2000" b="1" dirty="0">
                <a:latin typeface="Times New Roman" panose="02020603050405020304" pitchFamily="18" charset="0"/>
                <a:cs typeface="Times New Roman" panose="02020603050405020304" pitchFamily="18" charset="0"/>
              </a:rPr>
              <a:t>Data Preprocessing</a:t>
            </a:r>
            <a:endParaRPr lang="en-IN" sz="20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Raw images require standardization before being fed into neural networks.</a:t>
            </a:r>
            <a:endParaRPr lang="en-IN" sz="2000" dirty="0">
              <a:latin typeface="Times New Roman" panose="02020603050405020304" pitchFamily="18" charset="0"/>
              <a:cs typeface="Times New Roman" panose="02020603050405020304" pitchFamily="18" charset="0"/>
            </a:endParaRPr>
          </a:p>
          <a:p>
            <a:pPr lvl="2" algn="just"/>
            <a:r>
              <a:rPr lang="en-US" sz="2000" b="1" dirty="0">
                <a:latin typeface="Times New Roman" panose="02020603050405020304" pitchFamily="18" charset="0"/>
                <a:cs typeface="Times New Roman" panose="02020603050405020304" pitchFamily="18" charset="0"/>
              </a:rPr>
              <a:t>Image Resizing: </a:t>
            </a:r>
            <a:r>
              <a:rPr lang="en-US" sz="2000" dirty="0">
                <a:latin typeface="Times New Roman" panose="02020603050405020304" pitchFamily="18" charset="0"/>
                <a:cs typeface="Times New Roman" panose="02020603050405020304" pitchFamily="18" charset="0"/>
              </a:rPr>
              <a:t>Images were resized from their native resolution to $256 \times 192$ pixels using LANCZOS resampling to match the input requirements of the transfer learning models while preserving spatial features.</a:t>
            </a:r>
            <a:endParaRPr lang="en-IN" sz="2000" dirty="0">
              <a:latin typeface="Times New Roman" panose="02020603050405020304" pitchFamily="18" charset="0"/>
              <a:cs typeface="Times New Roman" panose="02020603050405020304" pitchFamily="18" charset="0"/>
            </a:endParaRPr>
          </a:p>
          <a:p>
            <a:pPr lvl="2" algn="just"/>
            <a:r>
              <a:rPr lang="en-US" sz="2000" b="1" dirty="0">
                <a:latin typeface="Times New Roman" panose="02020603050405020304" pitchFamily="18" charset="0"/>
                <a:cs typeface="Times New Roman" panose="02020603050405020304" pitchFamily="18" charset="0"/>
              </a:rPr>
              <a:t>Normalization: </a:t>
            </a:r>
            <a:r>
              <a:rPr lang="en-US" sz="2000" dirty="0">
                <a:latin typeface="Times New Roman" panose="02020603050405020304" pitchFamily="18" charset="0"/>
                <a:cs typeface="Times New Roman" panose="02020603050405020304" pitchFamily="18" charset="0"/>
              </a:rPr>
              <a:t>Pixel intensity values were scaled from the standard $[0, 255]$ range to</a:t>
            </a:r>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$[0, 1]$ to ensure stable gradient descent.</a:t>
            </a:r>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$$X_{norm} = \frac{X}{255.0}$$</a:t>
            </a:r>
            <a:endParaRPr lang="en-IN" sz="2000" dirty="0">
              <a:latin typeface="Times New Roman" panose="02020603050405020304" pitchFamily="18" charset="0"/>
              <a:cs typeface="Times New Roman" panose="02020603050405020304" pitchFamily="18" charset="0"/>
            </a:endParaRPr>
          </a:p>
          <a:p>
            <a:pPr marL="0" indent="0" algn="just">
              <a:buNone/>
            </a:pP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5118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FF2078-59BB-FB43-0EF3-A0C94ABDFE6F}"/>
              </a:ext>
            </a:extLst>
          </p:cNvPr>
          <p:cNvSpPr>
            <a:spLocks noGrp="1"/>
          </p:cNvSpPr>
          <p:nvPr>
            <p:ph idx="1"/>
          </p:nvPr>
        </p:nvSpPr>
        <p:spPr>
          <a:xfrm>
            <a:off x="1066800" y="642938"/>
            <a:ext cx="10058400" cy="5309806"/>
          </a:xfrm>
        </p:spPr>
        <p:txBody>
          <a:bodyPr/>
          <a:lstStyle/>
          <a:p>
            <a:pPr lvl="2" algn="just"/>
            <a:r>
              <a:rPr lang="en-US" sz="2000" b="1" dirty="0">
                <a:latin typeface="Times New Roman" panose="02020603050405020304" pitchFamily="18" charset="0"/>
                <a:cs typeface="Times New Roman" panose="02020603050405020304" pitchFamily="18" charset="0"/>
              </a:rPr>
              <a:t>Data Augmentation: </a:t>
            </a:r>
            <a:r>
              <a:rPr lang="en-US" sz="2000" dirty="0">
                <a:latin typeface="Times New Roman" panose="02020603050405020304" pitchFamily="18" charset="0"/>
                <a:cs typeface="Times New Roman" panose="02020603050405020304" pitchFamily="18" charset="0"/>
              </a:rPr>
              <a:t>To combat the class imbalance and prevent overfitting, real-time data augmentation was applied using </a:t>
            </a:r>
            <a:r>
              <a:rPr lang="en-US" sz="2000" dirty="0" err="1">
                <a:latin typeface="Times New Roman" panose="02020603050405020304" pitchFamily="18" charset="0"/>
                <a:cs typeface="Times New Roman" panose="02020603050405020304" pitchFamily="18" charset="0"/>
              </a:rPr>
              <a:t>ImageDataGenerator</a:t>
            </a:r>
            <a:r>
              <a:rPr lang="en-US" sz="2000" dirty="0">
                <a:latin typeface="Times New Roman" panose="02020603050405020304" pitchFamily="18" charset="0"/>
                <a:cs typeface="Times New Roman" panose="02020603050405020304" pitchFamily="18" charset="0"/>
              </a:rPr>
              <a:t>. Transformations included:</a:t>
            </a:r>
            <a:endParaRPr lang="en-IN" sz="2000" dirty="0">
              <a:latin typeface="Times New Roman" panose="02020603050405020304" pitchFamily="18" charset="0"/>
              <a:cs typeface="Times New Roman" panose="02020603050405020304" pitchFamily="18" charset="0"/>
            </a:endParaRPr>
          </a:p>
          <a:p>
            <a:pPr lvl="3" algn="just"/>
            <a:r>
              <a:rPr lang="en-US" sz="2000" dirty="0">
                <a:latin typeface="Times New Roman" panose="02020603050405020304" pitchFamily="18" charset="0"/>
                <a:cs typeface="Times New Roman" panose="02020603050405020304" pitchFamily="18" charset="0"/>
              </a:rPr>
              <a:t>Rotation ($40^\circ$ to $60^\circ$)</a:t>
            </a:r>
            <a:endParaRPr lang="en-IN" sz="2000" dirty="0">
              <a:latin typeface="Times New Roman" panose="02020603050405020304" pitchFamily="18" charset="0"/>
              <a:cs typeface="Times New Roman" panose="02020603050405020304" pitchFamily="18" charset="0"/>
            </a:endParaRPr>
          </a:p>
          <a:p>
            <a:pPr lvl="3" algn="just"/>
            <a:r>
              <a:rPr lang="en-US" sz="2000" dirty="0">
                <a:latin typeface="Times New Roman" panose="02020603050405020304" pitchFamily="18" charset="0"/>
                <a:cs typeface="Times New Roman" panose="02020603050405020304" pitchFamily="18" charset="0"/>
              </a:rPr>
              <a:t>Width and Height Shifts ($20\%$)</a:t>
            </a:r>
            <a:endParaRPr lang="en-IN" sz="2000" dirty="0">
              <a:latin typeface="Times New Roman" panose="02020603050405020304" pitchFamily="18" charset="0"/>
              <a:cs typeface="Times New Roman" panose="02020603050405020304" pitchFamily="18" charset="0"/>
            </a:endParaRPr>
          </a:p>
          <a:p>
            <a:pPr lvl="3" algn="just"/>
            <a:r>
              <a:rPr lang="en-US" sz="2000" dirty="0">
                <a:latin typeface="Times New Roman" panose="02020603050405020304" pitchFamily="18" charset="0"/>
                <a:cs typeface="Times New Roman" panose="02020603050405020304" pitchFamily="18" charset="0"/>
              </a:rPr>
              <a:t>Shear and Zoom ($20\%$) , Horizontal Flipping</a:t>
            </a:r>
            <a:endParaRPr lang="en-US" sz="1600" dirty="0"/>
          </a:p>
          <a:p>
            <a:pPr lvl="3" algn="just"/>
            <a:endParaRPr lang="en-IN" dirty="0"/>
          </a:p>
        </p:txBody>
      </p:sp>
      <p:pic>
        <p:nvPicPr>
          <p:cNvPr id="4" name="Image 9">
            <a:extLst>
              <a:ext uri="{FF2B5EF4-FFF2-40B4-BE49-F238E27FC236}">
                <a16:creationId xmlns:a16="http://schemas.microsoft.com/office/drawing/2014/main" id="{A23D1620-1FE9-B9DD-064F-5018C57321BA}"/>
              </a:ext>
            </a:extLst>
          </p:cNvPr>
          <p:cNvPicPr>
            <a:picLocks/>
          </p:cNvPicPr>
          <p:nvPr/>
        </p:nvPicPr>
        <p:blipFill>
          <a:blip r:embed="rId2" cstate="print"/>
          <a:stretch>
            <a:fillRect/>
          </a:stretch>
        </p:blipFill>
        <p:spPr>
          <a:xfrm>
            <a:off x="3167062" y="2761234"/>
            <a:ext cx="5857875" cy="3191510"/>
          </a:xfrm>
          <a:prstGeom prst="rect">
            <a:avLst/>
          </a:prstGeom>
        </p:spPr>
      </p:pic>
    </p:spTree>
    <p:extLst>
      <p:ext uri="{BB962C8B-B14F-4D97-AF65-F5344CB8AC3E}">
        <p14:creationId xmlns:p14="http://schemas.microsoft.com/office/powerpoint/2010/main" val="2262402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00DDA-5C95-9DDE-B276-4B6D20439860}"/>
              </a:ext>
            </a:extLst>
          </p:cNvPr>
          <p:cNvSpPr>
            <a:spLocks noGrp="1"/>
          </p:cNvSpPr>
          <p:nvPr>
            <p:ph type="title"/>
          </p:nvPr>
        </p:nvSpPr>
        <p:spPr/>
        <p:txBody>
          <a:bodyPr/>
          <a:lstStyle/>
          <a:p>
            <a:r>
              <a:rPr lang="en-IN" dirty="0"/>
              <a:t>Convolutional Neural Networks</a:t>
            </a:r>
          </a:p>
        </p:txBody>
      </p:sp>
      <p:sp>
        <p:nvSpPr>
          <p:cNvPr id="3" name="Content Placeholder 2">
            <a:extLst>
              <a:ext uri="{FF2B5EF4-FFF2-40B4-BE49-F238E27FC236}">
                <a16:creationId xmlns:a16="http://schemas.microsoft.com/office/drawing/2014/main" id="{F9A5042A-141D-2BFD-97A7-072BBB4DF3F6}"/>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Convolutional neural networks form the backbone of this project. A CNN processes an image through multiple layers, starting with convolution layers that extract spatial features such as edges, textures, and shapes. These features pass through a Rectified Linear Unit activation function, which introduces non-linearity into the model. Pooling layers reduce spatial dimensions while preserving important information, thereby decreasing computational complexity. Finally, fully connected layers generate probability distributions across the seven lesion categories using the soft max function.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2978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F2C77-149F-73AE-BECA-9A74C72D09C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System Architecture</a:t>
            </a:r>
            <a:br>
              <a:rPr lang="en-IN" b="1" dirty="0"/>
            </a:br>
            <a:endParaRPr lang="en-IN" dirty="0"/>
          </a:p>
        </p:txBody>
      </p:sp>
      <p:sp>
        <p:nvSpPr>
          <p:cNvPr id="3" name="Content Placeholder 2">
            <a:extLst>
              <a:ext uri="{FF2B5EF4-FFF2-40B4-BE49-F238E27FC236}">
                <a16:creationId xmlns:a16="http://schemas.microsoft.com/office/drawing/2014/main" id="{C12B41BD-96C4-A0CF-AE66-C8A8D35A6A66}"/>
              </a:ext>
            </a:extLst>
          </p:cNvPr>
          <p:cNvSpPr>
            <a:spLocks noGrp="1"/>
          </p:cNvSpPr>
          <p:nvPr>
            <p:ph idx="1"/>
          </p:nvPr>
        </p:nvSpPr>
        <p:spPr>
          <a:xfrm>
            <a:off x="1066800" y="1514475"/>
            <a:ext cx="10058400" cy="4438269"/>
          </a:xfrm>
        </p:spPr>
        <p:txBody>
          <a:bodyPr/>
          <a:lstStyle/>
          <a:p>
            <a:r>
              <a:rPr lang="en-US" dirty="0">
                <a:latin typeface="Times New Roman" panose="02020603050405020304" pitchFamily="18" charset="0"/>
                <a:cs typeface="Times New Roman" panose="02020603050405020304" pitchFamily="18" charset="0"/>
              </a:rPr>
              <a:t>Model Training Pipeline</a:t>
            </a:r>
            <a:endParaRPr lang="en-IN" dirty="0">
              <a:latin typeface="Times New Roman" panose="02020603050405020304" pitchFamily="18" charset="0"/>
              <a:cs typeface="Times New Roman" panose="02020603050405020304" pitchFamily="18" charset="0"/>
            </a:endParaRPr>
          </a:p>
        </p:txBody>
      </p:sp>
      <p:pic>
        <p:nvPicPr>
          <p:cNvPr id="4" name="Image 12">
            <a:extLst>
              <a:ext uri="{FF2B5EF4-FFF2-40B4-BE49-F238E27FC236}">
                <a16:creationId xmlns:a16="http://schemas.microsoft.com/office/drawing/2014/main" id="{4E8BF161-6D26-F037-0E1C-3A5EE8549971}"/>
              </a:ext>
            </a:extLst>
          </p:cNvPr>
          <p:cNvPicPr>
            <a:picLocks/>
          </p:cNvPicPr>
          <p:nvPr/>
        </p:nvPicPr>
        <p:blipFill>
          <a:blip r:embed="rId2" cstate="print"/>
          <a:stretch>
            <a:fillRect/>
          </a:stretch>
        </p:blipFill>
        <p:spPr>
          <a:xfrm>
            <a:off x="1595437" y="1833244"/>
            <a:ext cx="7177088" cy="4382161"/>
          </a:xfrm>
          <a:prstGeom prst="rect">
            <a:avLst/>
          </a:prstGeom>
        </p:spPr>
      </p:pic>
    </p:spTree>
    <p:extLst>
      <p:ext uri="{BB962C8B-B14F-4D97-AF65-F5344CB8AC3E}">
        <p14:creationId xmlns:p14="http://schemas.microsoft.com/office/powerpoint/2010/main" val="2143633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F479F-C8C1-CC1A-F5FA-DCF6C9F227A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Evaluation Metrics Explained</a:t>
            </a:r>
            <a:br>
              <a:rPr lang="en-IN" b="1" dirty="0"/>
            </a:br>
            <a:endParaRPr lang="en-IN" dirty="0"/>
          </a:p>
        </p:txBody>
      </p:sp>
      <p:sp>
        <p:nvSpPr>
          <p:cNvPr id="3" name="Content Placeholder 2">
            <a:extLst>
              <a:ext uri="{FF2B5EF4-FFF2-40B4-BE49-F238E27FC236}">
                <a16:creationId xmlns:a16="http://schemas.microsoft.com/office/drawing/2014/main" id="{34388F3D-A972-2732-3EE9-F560EAAB613C}"/>
              </a:ext>
            </a:extLst>
          </p:cNvPr>
          <p:cNvSpPr>
            <a:spLocks noGrp="1"/>
          </p:cNvSpPr>
          <p:nvPr>
            <p:ph idx="1"/>
          </p:nvPr>
        </p:nvSpPr>
        <p:spPr/>
        <p:txBody>
          <a:bodyPr/>
          <a:lstStyle/>
          <a:p>
            <a:pPr algn="just"/>
            <a:r>
              <a:rPr lang="en-US" sz="1800" dirty="0">
                <a:latin typeface="Times New Roman" panose="02020603050405020304" pitchFamily="18" charset="0"/>
                <a:cs typeface="Times New Roman" panose="02020603050405020304" pitchFamily="18" charset="0"/>
              </a:rPr>
              <a:t>To ensure medical reliability, raw accuracy is insufficient due to class imbalance.</a:t>
            </a:r>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Precision: </a:t>
            </a:r>
            <a:r>
              <a:rPr lang="en-US" sz="1800" dirty="0">
                <a:latin typeface="Times New Roman" panose="02020603050405020304" pitchFamily="18" charset="0"/>
                <a:cs typeface="Times New Roman" panose="02020603050405020304" pitchFamily="18" charset="0"/>
              </a:rPr>
              <a:t>The proportion of positive identifications that were actually correct. High precision means fewer false alarms.</a:t>
            </a:r>
            <a:endParaRPr lang="en-IN"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$$Precision = \frac{TP}{TP + FP}$$</a:t>
            </a:r>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Recall (Sensitivity): </a:t>
            </a:r>
            <a:r>
              <a:rPr lang="en-US" sz="1800" dirty="0">
                <a:latin typeface="Times New Roman" panose="02020603050405020304" pitchFamily="18" charset="0"/>
                <a:cs typeface="Times New Roman" panose="02020603050405020304" pitchFamily="18" charset="0"/>
              </a:rPr>
              <a:t>The proportion </a:t>
            </a:r>
            <a:r>
              <a:rPr lang="en-US" sz="1800" dirty="0" err="1">
                <a:latin typeface="Times New Roman" panose="02020603050405020304" pitchFamily="18" charset="0"/>
                <a:cs typeface="Times New Roman" panose="02020603050405020304" pitchFamily="18" charset="0"/>
              </a:rPr>
              <a:t>ofi</a:t>
            </a:r>
            <a:r>
              <a:rPr lang="en-US" sz="1800" dirty="0">
                <a:latin typeface="Times New Roman" panose="02020603050405020304" pitchFamily="18" charset="0"/>
                <a:cs typeface="Times New Roman" panose="02020603050405020304" pitchFamily="18" charset="0"/>
              </a:rPr>
              <a:t> actual positives correctly identified. In cancer detection, high recall is vital to ensure no malignant lesions are missed.</a:t>
            </a:r>
            <a:endParaRPr lang="en-IN"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$$Recall = \frac{TP}{TP + FN}$$</a:t>
            </a:r>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F1-Score: </a:t>
            </a:r>
            <a:r>
              <a:rPr lang="en-US" sz="1800" dirty="0">
                <a:latin typeface="Times New Roman" panose="02020603050405020304" pitchFamily="18" charset="0"/>
                <a:cs typeface="Times New Roman" panose="02020603050405020304" pitchFamily="18" charset="0"/>
              </a:rPr>
              <a:t>The harmonic mean of Precision and Recall, providing a single metric for imbalanced classes.</a:t>
            </a:r>
            <a:endParaRPr lang="en-IN"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$$F1 = 2 \times \frac{Precision \times Recall}{Precision + Recall}$$</a:t>
            </a:r>
            <a:endParaRPr lang="en-IN" sz="1800" dirty="0">
              <a:latin typeface="Times New Roman" panose="02020603050405020304" pitchFamily="18"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3409103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6AF5FE-BFA8-A86A-CC33-7B4FE0C18D27}"/>
              </a:ext>
            </a:extLst>
          </p:cNvPr>
          <p:cNvSpPr>
            <a:spLocks noGrp="1"/>
          </p:cNvSpPr>
          <p:nvPr>
            <p:ph idx="1"/>
          </p:nvPr>
        </p:nvSpPr>
        <p:spPr>
          <a:xfrm>
            <a:off x="1066800" y="671513"/>
            <a:ext cx="10058400" cy="5281231"/>
          </a:xfrm>
        </p:spPr>
        <p:txBody>
          <a:bodyPr>
            <a:normAutofit/>
          </a:bodyPr>
          <a:lstStyle/>
          <a:p>
            <a:pPr lvl="0" algn="just"/>
            <a:r>
              <a:rPr lang="en-US" sz="1800" b="1" dirty="0">
                <a:latin typeface="Times New Roman" panose="02020603050405020304" pitchFamily="18" charset="0"/>
                <a:cs typeface="Times New Roman" panose="02020603050405020304" pitchFamily="18" charset="0"/>
              </a:rPr>
              <a:t>Advantages</a:t>
            </a:r>
            <a:endParaRPr lang="en-IN" sz="1800" b="1"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High Generalization: </a:t>
            </a:r>
            <a:r>
              <a:rPr lang="en-US" sz="1800" dirty="0">
                <a:latin typeface="Times New Roman" panose="02020603050405020304" pitchFamily="18" charset="0"/>
                <a:cs typeface="Times New Roman" panose="02020603050405020304" pitchFamily="18" charset="0"/>
              </a:rPr>
              <a:t>The ensemble approach effectively mitigates overfitting, leading to robust performance on unseen test data.</a:t>
            </a:r>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Clinical Utility: </a:t>
            </a:r>
            <a:r>
              <a:rPr lang="en-US" sz="1800" dirty="0">
                <a:latin typeface="Times New Roman" panose="02020603050405020304" pitchFamily="18" charset="0"/>
                <a:cs typeface="Times New Roman" panose="02020603050405020304" pitchFamily="18" charset="0"/>
              </a:rPr>
              <a:t>By providing both a specific diagnosis and a binary risk assessment, it directly aids clinician workflows.</a:t>
            </a:r>
            <a:endParaRPr lang="en-IN" sz="1800" dirty="0">
              <a:latin typeface="Times New Roman" panose="02020603050405020304" pitchFamily="18" charset="0"/>
              <a:cs typeface="Times New Roman" panose="02020603050405020304" pitchFamily="18" charset="0"/>
            </a:endParaRPr>
          </a:p>
          <a:p>
            <a:pPr algn="just"/>
            <a:r>
              <a:rPr lang="en-US" sz="1800" b="1" dirty="0">
                <a:latin typeface="Times New Roman" panose="02020603050405020304" pitchFamily="18" charset="0"/>
                <a:cs typeface="Times New Roman" panose="02020603050405020304" pitchFamily="18" charset="0"/>
              </a:rPr>
              <a:t>Scalability: </a:t>
            </a:r>
            <a:r>
              <a:rPr lang="en-US" sz="1800" dirty="0">
                <a:latin typeface="Times New Roman" panose="02020603050405020304" pitchFamily="18" charset="0"/>
                <a:cs typeface="Times New Roman" panose="02020603050405020304" pitchFamily="18" charset="0"/>
              </a:rPr>
              <a:t>The architecture is designed to easily integrate into existing telemedicine infrastructure or mobile backends</a:t>
            </a:r>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Limitations</a:t>
            </a:r>
            <a:endParaRPr lang="en-IN" sz="1800" b="1"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Dataset Bias: </a:t>
            </a:r>
            <a:r>
              <a:rPr lang="en-US" sz="1800" dirty="0">
                <a:latin typeface="Times New Roman" panose="02020603050405020304" pitchFamily="18" charset="0"/>
                <a:cs typeface="Times New Roman" panose="02020603050405020304" pitchFamily="18" charset="0"/>
              </a:rPr>
              <a:t>The inherent imbalance in the HAM10000 dataset (majority </a:t>
            </a:r>
            <a:r>
              <a:rPr lang="en-US" sz="1800" i="1" dirty="0" err="1">
                <a:latin typeface="Times New Roman" panose="02020603050405020304" pitchFamily="18" charset="0"/>
                <a:cs typeface="Times New Roman" panose="02020603050405020304" pitchFamily="18" charset="0"/>
              </a:rPr>
              <a:t>nv</a:t>
            </a:r>
            <a:r>
              <a:rPr lang="en-US" sz="1800" i="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cases) means the model may exhibit slightly lower recall on rarer classes (like </a:t>
            </a:r>
            <a:r>
              <a:rPr lang="en-US" sz="1800" i="1" dirty="0" err="1">
                <a:latin typeface="Times New Roman" panose="02020603050405020304" pitchFamily="18" charset="0"/>
                <a:cs typeface="Times New Roman" panose="02020603050405020304" pitchFamily="18" charset="0"/>
              </a:rPr>
              <a:t>df</a:t>
            </a:r>
            <a:r>
              <a:rPr lang="en-US" sz="1800" i="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or </a:t>
            </a:r>
            <a:r>
              <a:rPr lang="en-US" sz="1800" i="1" dirty="0" err="1">
                <a:latin typeface="Times New Roman" panose="02020603050405020304" pitchFamily="18" charset="0"/>
                <a:cs typeface="Times New Roman" panose="02020603050405020304" pitchFamily="18" charset="0"/>
              </a:rPr>
              <a:t>vasc</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Black Box Nature: </a:t>
            </a:r>
            <a:r>
              <a:rPr lang="en-US" sz="1800" dirty="0">
                <a:latin typeface="Times New Roman" panose="02020603050405020304" pitchFamily="18" charset="0"/>
                <a:cs typeface="Times New Roman" panose="02020603050405020304" pitchFamily="18" charset="0"/>
              </a:rPr>
              <a:t>Like most deep learning models, the lack of visual explainability (e.g., heatmaps showing </a:t>
            </a:r>
            <a:r>
              <a:rPr lang="en-US" sz="1800" i="1" dirty="0">
                <a:latin typeface="Times New Roman" panose="02020603050405020304" pitchFamily="18" charset="0"/>
                <a:cs typeface="Times New Roman" panose="02020603050405020304" pitchFamily="18" charset="0"/>
              </a:rPr>
              <a:t>where </a:t>
            </a:r>
            <a:r>
              <a:rPr lang="en-US" sz="1800" dirty="0">
                <a:latin typeface="Times New Roman" panose="02020603050405020304" pitchFamily="18" charset="0"/>
                <a:cs typeface="Times New Roman" panose="02020603050405020304" pitchFamily="18" charset="0"/>
              </a:rPr>
              <a:t>the model is looking) can hinder total clinical trust.</a:t>
            </a:r>
            <a:endParaRPr lang="en-IN" sz="1800" dirty="0">
              <a:latin typeface="Times New Roman" panose="02020603050405020304" pitchFamily="18" charset="0"/>
              <a:cs typeface="Times New Roman" panose="02020603050405020304" pitchFamily="18" charset="0"/>
            </a:endParaRPr>
          </a:p>
          <a:p>
            <a:pPr algn="just"/>
            <a:r>
              <a:rPr lang="en-US" sz="1800" b="1" dirty="0">
                <a:latin typeface="Times New Roman" panose="02020603050405020304" pitchFamily="18" charset="0"/>
                <a:cs typeface="Times New Roman" panose="02020603050405020304" pitchFamily="18" charset="0"/>
              </a:rPr>
              <a:t>Hardware Dependency: </a:t>
            </a:r>
            <a:r>
              <a:rPr lang="en-US" sz="1800" dirty="0">
                <a:latin typeface="Times New Roman" panose="02020603050405020304" pitchFamily="18" charset="0"/>
                <a:cs typeface="Times New Roman" panose="02020603050405020304" pitchFamily="18" charset="0"/>
              </a:rPr>
              <a:t>The ensemble model requires significant computational power (GPU) for rapid inference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2119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C85C5-A18C-464C-028C-00AFC896B51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Literature Review</a:t>
            </a:r>
            <a:br>
              <a:rPr lang="en-IN" b="1" dirty="0"/>
            </a:br>
            <a:endParaRPr lang="en-IN" dirty="0"/>
          </a:p>
        </p:txBody>
      </p:sp>
      <p:sp>
        <p:nvSpPr>
          <p:cNvPr id="3" name="Content Placeholder 2">
            <a:extLst>
              <a:ext uri="{FF2B5EF4-FFF2-40B4-BE49-F238E27FC236}">
                <a16:creationId xmlns:a16="http://schemas.microsoft.com/office/drawing/2014/main" id="{1BD6C5A9-630F-E67A-4BA6-9513ECCF4A97}"/>
              </a:ext>
            </a:extLst>
          </p:cNvPr>
          <p:cNvSpPr>
            <a:spLocks noGrp="1"/>
          </p:cNvSpPr>
          <p:nvPr>
            <p:ph idx="1"/>
          </p:nvPr>
        </p:nvSpPr>
        <p:spPr/>
        <p:txBody>
          <a:bodyPr>
            <a:normAutofit fontScale="92500"/>
          </a:bodyPr>
          <a:lstStyle/>
          <a:p>
            <a:pPr lvl="0" algn="just"/>
            <a:r>
              <a:rPr lang="en-US" sz="2000" b="1" dirty="0">
                <a:latin typeface="Times New Roman" panose="02020603050405020304" pitchFamily="18" charset="0"/>
                <a:cs typeface="Times New Roman" panose="02020603050405020304" pitchFamily="18" charset="0"/>
              </a:rPr>
              <a:t>CNNs for Medical Imaging: </a:t>
            </a:r>
            <a:r>
              <a:rPr lang="en-US" sz="2000" dirty="0">
                <a:latin typeface="Times New Roman" panose="02020603050405020304" pitchFamily="18" charset="0"/>
                <a:cs typeface="Times New Roman" panose="02020603050405020304" pitchFamily="18" charset="0"/>
              </a:rPr>
              <a:t>Convolutional Neural Networks have become the de facto standard for medical image analysis due to their spatial invariance and ability to learn hierarchical feature representations directly from raw pixels.</a:t>
            </a:r>
            <a:endParaRPr lang="en-IN" sz="2000" dirty="0">
              <a:latin typeface="Times New Roman" panose="02020603050405020304" pitchFamily="18" charset="0"/>
              <a:cs typeface="Times New Roman" panose="02020603050405020304" pitchFamily="18" charset="0"/>
            </a:endParaRPr>
          </a:p>
          <a:p>
            <a:pPr lvl="0" algn="just"/>
            <a:r>
              <a:rPr lang="en-US" sz="2000" b="1" dirty="0">
                <a:latin typeface="Times New Roman" panose="02020603050405020304" pitchFamily="18" charset="0"/>
                <a:cs typeface="Times New Roman" panose="02020603050405020304" pitchFamily="18" charset="0"/>
              </a:rPr>
              <a:t>Transfer Learning in Healthcare: </a:t>
            </a:r>
            <a:r>
              <a:rPr lang="en-US" sz="2000" dirty="0">
                <a:latin typeface="Times New Roman" panose="02020603050405020304" pitchFamily="18" charset="0"/>
                <a:cs typeface="Times New Roman" panose="02020603050405020304" pitchFamily="18" charset="0"/>
              </a:rPr>
              <a:t>Medical datasets are often small and difficult to curate. Transfer learning mitigates this by utilizing models pre-trained on large-scale datasets (e.g., ImageNet). Studies show that transferring learned weights significantly reduces training time and prevents overfitting in medical domains.</a:t>
            </a:r>
            <a:endParaRPr lang="en-IN" sz="2000" dirty="0">
              <a:latin typeface="Times New Roman" panose="02020603050405020304" pitchFamily="18" charset="0"/>
              <a:cs typeface="Times New Roman" panose="02020603050405020304" pitchFamily="18" charset="0"/>
            </a:endParaRPr>
          </a:p>
          <a:p>
            <a:pPr lvl="0" algn="just"/>
            <a:r>
              <a:rPr lang="en-US" sz="2000" b="1" dirty="0">
                <a:latin typeface="Times New Roman" panose="02020603050405020304" pitchFamily="18" charset="0"/>
                <a:cs typeface="Times New Roman" panose="02020603050405020304" pitchFamily="18" charset="0"/>
              </a:rPr>
              <a:t>Ensemble Methods in Deep Learning: </a:t>
            </a:r>
            <a:r>
              <a:rPr lang="en-US" sz="2000" dirty="0">
                <a:latin typeface="Times New Roman" panose="02020603050405020304" pitchFamily="18" charset="0"/>
                <a:cs typeface="Times New Roman" panose="02020603050405020304" pitchFamily="18" charset="0"/>
              </a:rPr>
              <a:t>Ensemble learning combines predictions from multiple models to reduce variance and bias. In medical imaging, averaging the soft max probabilities of architecturally diverse models (e.g., </a:t>
            </a:r>
            <a:r>
              <a:rPr lang="en-US" sz="2000" dirty="0" err="1">
                <a:latin typeface="Times New Roman" panose="02020603050405020304" pitchFamily="18" charset="0"/>
                <a:cs typeface="Times New Roman" panose="02020603050405020304" pitchFamily="18" charset="0"/>
              </a:rPr>
              <a:t>DenseNet's</a:t>
            </a:r>
            <a:r>
              <a:rPr lang="en-US" sz="2000" dirty="0">
                <a:latin typeface="Times New Roman" panose="02020603050405020304" pitchFamily="18" charset="0"/>
                <a:cs typeface="Times New Roman" panose="02020603050405020304" pitchFamily="18" charset="0"/>
              </a:rPr>
              <a:t> feature reuse combined with Inception's multi-scale processing) consistently yields superior generalization compared to single models.</a:t>
            </a:r>
            <a:endParaRPr lang="en-IN" sz="2000"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3290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89A78-CA44-2E4B-79B1-770E2311E5E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EE6D14-957C-6360-796F-B982DA625F1C}"/>
              </a:ext>
            </a:extLst>
          </p:cNvPr>
          <p:cNvSpPr>
            <a:spLocks noGrp="1"/>
          </p:cNvSpPr>
          <p:nvPr>
            <p:ph idx="1"/>
          </p:nvPr>
        </p:nvSpPr>
        <p:spPr/>
        <p:txBody>
          <a:bodyPr>
            <a:noAutofit/>
          </a:bodyPr>
          <a:lstStyle/>
          <a:p>
            <a:pPr algn="just"/>
            <a:r>
              <a:rPr lang="en-US" sz="2400" dirty="0">
                <a:latin typeface="Times New Roman" panose="02020603050405020304" pitchFamily="18" charset="0"/>
                <a:cs typeface="Times New Roman" panose="02020603050405020304" pitchFamily="18" charset="0"/>
              </a:rPr>
              <a:t>This project successfully establishes a sophisticated, end-to-end machine learning pipeline for skin cancer detection. By progressing from baseline architectures to heavily customized, retrained transfer learning networks, the project proves the efficacy of deep learning in dermatological diagnostics. The final weighted ensemble model balances the</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feature-extraction strengths of DenseNet201 and InceptionV3, achieving highly competitive accuracy metrics. Paired with a modern web interface, this system stands as a comprehensive, deployable prototype that fulfills the criteria for advanced clinical decision support and telemedicine integration.</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5523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ADC8B-AA03-D530-EB28-5F1F08CA029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CE982E-FD8B-122F-9D1E-63C4BCA57CD1}"/>
              </a:ext>
            </a:extLst>
          </p:cNvPr>
          <p:cNvSpPr>
            <a:spLocks noGrp="1"/>
          </p:cNvSpPr>
          <p:nvPr>
            <p:ph idx="1"/>
          </p:nvPr>
        </p:nvSpPr>
        <p:spPr>
          <a:xfrm>
            <a:off x="909638" y="1760220"/>
            <a:ext cx="10058400" cy="3849624"/>
          </a:xfrm>
        </p:spPr>
        <p:txBody>
          <a:bodyPr/>
          <a:lstStyle/>
          <a:p>
            <a:pPr lvl="0" algn="just"/>
            <a:r>
              <a:rPr lang="en-US" sz="2000" dirty="0" err="1">
                <a:latin typeface="Times New Roman" panose="02020603050405020304" pitchFamily="18" charset="0"/>
                <a:cs typeface="Times New Roman" panose="02020603050405020304" pitchFamily="18" charset="0"/>
              </a:rPr>
              <a:t>Tschandl</a:t>
            </a:r>
            <a:r>
              <a:rPr lang="en-US" sz="2000" dirty="0">
                <a:latin typeface="Times New Roman" panose="02020603050405020304" pitchFamily="18" charset="0"/>
                <a:cs typeface="Times New Roman" panose="02020603050405020304" pitchFamily="18" charset="0"/>
              </a:rPr>
              <a:t>, P., Rosendahl, C., &amp; Kittler, H. (2018). "The HAM10000 dataset, a large collection of multi-source </a:t>
            </a:r>
            <a:r>
              <a:rPr lang="en-US" sz="2000" dirty="0" err="1">
                <a:latin typeface="Times New Roman" panose="02020603050405020304" pitchFamily="18" charset="0"/>
                <a:cs typeface="Times New Roman" panose="02020603050405020304" pitchFamily="18" charset="0"/>
              </a:rPr>
              <a:t>dermatoscopic</a:t>
            </a:r>
            <a:r>
              <a:rPr lang="en-US" sz="2000" dirty="0">
                <a:latin typeface="Times New Roman" panose="02020603050405020304" pitchFamily="18" charset="0"/>
                <a:cs typeface="Times New Roman" panose="02020603050405020304" pitchFamily="18" charset="0"/>
              </a:rPr>
              <a:t> images of common pigmented skin lesions." </a:t>
            </a:r>
            <a:r>
              <a:rPr lang="en-US" sz="2000" i="1" dirty="0">
                <a:latin typeface="Times New Roman" panose="02020603050405020304" pitchFamily="18" charset="0"/>
                <a:cs typeface="Times New Roman" panose="02020603050405020304" pitchFamily="18" charset="0"/>
              </a:rPr>
              <a:t>Scientific Data</a:t>
            </a:r>
            <a:r>
              <a:rPr lang="en-US" sz="2000" dirty="0">
                <a:latin typeface="Times New Roman" panose="02020603050405020304" pitchFamily="18" charset="0"/>
                <a:cs typeface="Times New Roman" panose="02020603050405020304" pitchFamily="18" charset="0"/>
              </a:rPr>
              <a:t>, 5, 180161.</a:t>
            </a:r>
            <a:endParaRPr lang="en-IN" sz="2000" dirty="0">
              <a:latin typeface="Times New Roman" panose="02020603050405020304" pitchFamily="18" charset="0"/>
              <a:cs typeface="Times New Roman" panose="02020603050405020304" pitchFamily="18" charset="0"/>
            </a:endParaRPr>
          </a:p>
          <a:p>
            <a:pPr lvl="0" algn="just"/>
            <a:r>
              <a:rPr lang="en-US" sz="2000" dirty="0">
                <a:latin typeface="Times New Roman" panose="02020603050405020304" pitchFamily="18" charset="0"/>
                <a:cs typeface="Times New Roman" panose="02020603050405020304" pitchFamily="18" charset="0"/>
              </a:rPr>
              <a:t>He, K., Zhang, X., Ren, S., &amp; Sun, J. (2016). "Deep Residual Learning for Image Recognition."</a:t>
            </a:r>
            <a:endParaRPr lang="en-IN" sz="2000" dirty="0">
              <a:latin typeface="Times New Roman" panose="02020603050405020304" pitchFamily="18" charset="0"/>
              <a:cs typeface="Times New Roman" panose="02020603050405020304" pitchFamily="18" charset="0"/>
            </a:endParaRPr>
          </a:p>
          <a:p>
            <a:pPr algn="just"/>
            <a:r>
              <a:rPr lang="en-US" sz="2000" i="1" dirty="0">
                <a:latin typeface="Times New Roman" panose="02020603050405020304" pitchFamily="18" charset="0"/>
                <a:cs typeface="Times New Roman" panose="02020603050405020304" pitchFamily="18" charset="0"/>
              </a:rPr>
              <a:t>Proceedings of the IEEE conference on computer vision and pattern recognition </a:t>
            </a:r>
            <a:r>
              <a:rPr lang="en-US" sz="2000" dirty="0">
                <a:latin typeface="Times New Roman" panose="02020603050405020304" pitchFamily="18" charset="0"/>
                <a:cs typeface="Times New Roman" panose="02020603050405020304" pitchFamily="18" charset="0"/>
              </a:rPr>
              <a:t>(pp. 770-778).</a:t>
            </a:r>
            <a:endParaRPr lang="en-IN" sz="2000" dirty="0">
              <a:latin typeface="Times New Roman" panose="02020603050405020304" pitchFamily="18"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2875833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6BCBFB-BBC7-42F1-95CD-058E172363A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259D436-C82E-43E0-8A01-53DF9CED6032}">
  <ds:schemaRefs>
    <ds:schemaRef ds:uri="http://schemas.microsoft.com/sharepoint/v3/contenttype/forms"/>
  </ds:schemaRefs>
</ds:datastoreItem>
</file>

<file path=customXml/itemProps3.xml><?xml version="1.0" encoding="utf-8"?>
<ds:datastoreItem xmlns:ds="http://schemas.openxmlformats.org/officeDocument/2006/customXml" ds:itemID="{1F91CDEB-92ED-41DC-BF33-2916A76876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 Boardroom</Template>
  <TotalTime>65</TotalTime>
  <Words>1333</Words>
  <Application>Microsoft Office PowerPoint</Application>
  <PresentationFormat>Widescreen</PresentationFormat>
  <Paragraphs>63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Avenir Next LT Pro</vt:lpstr>
      <vt:lpstr>Avenir Next LT Pro Light</vt:lpstr>
      <vt:lpstr>Calibri</vt:lpstr>
      <vt:lpstr>Garamond</vt:lpstr>
      <vt:lpstr>Times New Roman</vt:lpstr>
      <vt:lpstr>SavonVTI</vt:lpstr>
      <vt:lpstr>AI-Based Skin Cancer Detection Using Deep Learning and Ensemble Models </vt:lpstr>
      <vt:lpstr>Abstract</vt:lpstr>
      <vt:lpstr>Introduction</vt:lpstr>
      <vt:lpstr>Problem Statement</vt:lpstr>
      <vt:lpstr>Objectives</vt:lpstr>
      <vt:lpstr>Dataset Description</vt:lpstr>
      <vt:lpstr>Methodology </vt:lpstr>
      <vt:lpstr>PowerPoint Presentation</vt:lpstr>
      <vt:lpstr>Convolutional Neural Networks</vt:lpstr>
      <vt:lpstr>System Architecture </vt:lpstr>
      <vt:lpstr>Evaluation Metrics Explained </vt:lpstr>
      <vt:lpstr>PowerPoint Presentation</vt:lpstr>
      <vt:lpstr>Literature Review </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Thahir</dc:creator>
  <cp:lastModifiedBy>Mohamed Thahir</cp:lastModifiedBy>
  <cp:revision>12</cp:revision>
  <dcterms:created xsi:type="dcterms:W3CDTF">2026-02-27T04:28:49Z</dcterms:created>
  <dcterms:modified xsi:type="dcterms:W3CDTF">2026-02-28T18:29:03Z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